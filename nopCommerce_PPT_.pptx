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3" r:id="rId9"/>
    <p:sldId id="271" r:id="rId10"/>
    <p:sldId id="272" r:id="rId11"/>
    <p:sldId id="264" r:id="rId12"/>
    <p:sldId id="270" r:id="rId13"/>
    <p:sldId id="265" r:id="rId14"/>
    <p:sldId id="266" r:id="rId15"/>
    <p:sldId id="26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7E317"/>
    <a:srgbClr val="CC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2" d="100"/>
          <a:sy n="92" d="100"/>
        </p:scale>
        <p:origin x="33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9:52.5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24529,'0'791'0,"3889"-791"0,-3889-791 0,-3889 791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0:01.1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2018 24362,'551'-2017'0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0:04.0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0 229 24575,'11'-10'0,"0"1"0,0 0 0,1 1 0,15-8 0,-13 7 0,1 0 0,19-17 0,6-11-54,-22 18-274,1 2 0,0 1 1,29-19-1,-33 26-6498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0:06.1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24575,'0'11'0,"0"0"0,0 0 0,1 0 0,0 0 0,1-1 0,0 1 0,1 0 0,0-1 0,0 0 0,1 0 0,1 0 0,0 0 0,10 15 0,-9-16 0,-1-1 0,-1 1 0,1 0 0,-1 0 0,-1 1 0,0-1 0,3 18 0,-4-19 0,0 1 0,0 0 0,1 0 0,0-1 0,1 0 0,0 1 0,0-1 0,1-1 0,10 15 0,-2-8-111,-8-9-14,0-1-1,-1 1 1,0 0-1,0 0 1,0 0 0,-1 1-1,1-1 1,-1 1-1,3 10 1,-1 2-6701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7:32.6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24504,'0'1107'0,"4994"-1107"0,-4994-1107 0,-4994 1107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8:20.4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3909 166 24575,'-52'-3'0,"0"-3"0,1-2 0,0-2 0,-65-22 0,51 14 0,-113-18 0,94 30 0,-106 7 0,66 2 0,-2035-3 0,2143 0 0,1 2 0,-31 7 0,-22 2 0,-97-12 0,-31 3 0,58 20 0,128-22 0,1 1 0,-1 0 0,1 1 0,0 0 0,-1 1 0,1 0 0,-15 6 0,21-7 0,0 0 0,-1 0 0,1 0 0,0 1 0,0-1 0,0 1 0,1 0 0,-1-1 0,1 1 0,-1 0 0,1 1 0,0-1 0,0 0 0,0 1 0,1-1 0,-1 1 0,1-1 0,0 1 0,0 0 0,0 0 0,-1 5 0,0 32 0,1 0 0,6 63 0,-3-90 0,1 1 0,1-1 0,0 0 0,1 0 0,12 25 0,9 22 0,-21-40 0,-2 1 0,0 0 0,-1 0 0,-1 0 0,-1 0 0,-3 26 0,0 17 0,3-53 0,0 5 0,0 0 0,1 0 0,0 1 0,1-1 0,5 17 0,-5-30 0,-1 0 0,1 0 0,-1 0 0,1 0 0,0 0 0,1 0 0,-1-1 0,1 1 0,0-1 0,-1 1 0,1-1 0,1 0 0,-1 0 0,0 0 0,1-1 0,0 1 0,-1-1 0,1 0 0,0 0 0,0 0 0,0-1 0,0 1 0,1-1 0,8 2 0,24 1 0,1-2 0,0-1 0,39-4 0,9 0 0,763 3 0,-821 2 0,49 8 0,-46-5 0,37 2 0,64 4 0,21 1 0,959-13 0,-615 1 0,-459-2 0,-1-2 0,68-16 0,-4 1 0,-15 2 0,92-30 0,-146 37 0,202-72 0,-67 5 0,-138 66 0,56-30 0,-76 35 0,0 1 0,-1-1 0,0-1 0,0 1 0,0-1 0,-1-1 0,0 0 0,0 0 0,10-17 0,-4 1 0,-2 0 0,-1 0 0,-1-1 0,-1-1 0,-1 1 0,-1-1 0,-2 0 0,0 0 0,-2-1 0,-1-45 0,-1 43 0,0 17 0,1 0 0,-1-1 0,-1 1 0,0 0 0,-1 0 0,0 0 0,-1 0 0,-1 1 0,1-1 0,-11-19 0,9 22 0,0 1 0,-1-1 0,0 1 0,0 0 0,-1 1 0,0-1 0,-1 2 0,0-1 0,0 1 0,0 0 0,-13-7 0,10 8 0,0 1 0,-1 0 0,1 0 0,-1 1 0,0 1 0,0 0 0,0 1 0,0 0 0,-15 1 0,2 0 0,-12 0 0,-42 6 0,66-4 0,1 1 0,-1 0 0,1 0 0,0 1 0,1 1 0,-1 0 0,-14 8 0,12-5 0,0-1 0,-28 9 0,-15 6 0,43-16 0,0-1 0,-1 0 0,0-1 0,0-1 0,-21 2 0,-17 3 0,-7 0-1365,41-7-5461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8:21.8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8:31.6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4163 232 24575,'-46'0'0,"-32"1"0,-127-16 0,-22-8 0,225 22 0,-124-15 0,-139 1 0,227 16 0,0-2 0,-74-12 0,86 9 0,-1 1 0,-33 1 0,34 1 0,0 0 0,-36-7 0,-86-21 0,38 12 0,59 11 0,-26-1 0,-135 6 0,8 0 0,-34-22 0,193 17 0,-45-11 0,52 9 0,1 1 0,-51-1 0,-352 7 0,192 3 0,208 0 0,-66 12 0,59-7 0,32-4 0,1 1 0,-1 0 0,-17 8 0,-28 9 0,5-8 0,0 3 0,-83 35 0,95-34 0,28-11 0,-1 1 0,-24 14 0,35-18 0,0 1 0,0 0 0,0 0 0,0 0 0,1 1 0,0 0 0,0 0 0,0 0 0,1 0 0,-6 11 0,3-2 0,1-1 0,1 1 0,0 0 0,1 0 0,0 0 0,0 28 0,5 93 0,1-58 0,0-39 0,1 1 0,3 0 0,14 50 0,6 35 0,-17-75 0,2-1 0,2 0 0,3-1 0,22 47 0,-36-88 0,0-1 0,0 0 0,0 0 0,0 0 0,1 0 0,0-1 0,0 1 0,0-1 0,0 0 0,1 0 0,-1-1 0,1 1 0,10 4 0,-6-4 0,-1-1 0,1 0 0,-1 0 0,1-1 0,0 0 0,0-1 0,0 0 0,13 0 0,-2-2 0,1-1 0,0-1 0,-1 0 0,1-2 0,-1 0 0,0-2 0,22-9 0,-20 5 0,1 2 0,1 1 0,-1 1 0,1 1 0,1 0 0,-1 2 0,1 1 0,30 1 0,584 3 0,-610-2 0,50-10 0,-48 6 0,38-1 0,-29 3 0,1-2 0,42-11 0,-44 8 0,1 1 0,48-1 0,198-15 0,25 0 0,270 24 0,-551 1 0,-1 2 0,0 0 0,0 2 0,38 13 0,-33-9 0,0-2 0,56 7 0,-70-13 0,104 12 0,39 9 0,14 1 0,-90-16 0,-56-6 0,50 10 0,-45-6 0,0-2 0,0-1 0,0-2 0,65-7 0,-97 6 0,0 0 0,0-1 0,0 1 0,0-1 0,0 0 0,0-1 0,-1 1 0,1-1 0,0 1 0,-1-1 0,1 0 0,-1 0 0,0-1 0,1 1 0,-1-1 0,0 1 0,-1-1 0,1 0 0,0 0 0,-1 0 0,0-1 0,1 1 0,-1-1 0,-1 1 0,1-1 0,0 0 0,-1 1 0,2-8 0,0-7 0,0 0 0,-2-1 0,0 1 0,-1 0 0,-2-21 0,0 2 0,0 0 0,-8-38 0,4 40 0,-1-50 0,8-367 0,-1 443 0,-1 0 0,0 1 0,0-1 0,0 0 0,-1 1 0,-1 0 0,1-1 0,-2 1 0,1 0 0,-7-12 0,7 16 0,0 0 0,0 0 0,0 0 0,-1 0 0,1 0 0,-1 1 0,0 0 0,0-1 0,0 1 0,0 1 0,0-1 0,-1 1 0,1 0 0,-1 0 0,0 0 0,1 0 0,-1 1 0,0 0 0,-7-1 0,-10 0 24,1 0 0,0 2 0,-1 1 0,-23 3 0,34-2-173,-1 1 1,1-1-1,0 2 1,0 0-1,1 0 1,-1 1-1,1 0 1,0 1-1,-12 9 1,11-7-6678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9AFFE3-CAD7-40AA-8C49-74B66497B74A}" type="datetimeFigureOut">
              <a:rPr lang="en-IN" smtClean="0"/>
              <a:t>08-09-2025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EDFDC5-DCA9-4D62-826F-74397662D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25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914400" algn="just">
              <a:lnSpc>
                <a:spcPct val="107000"/>
              </a:lnSpc>
              <a:spcBef>
                <a:spcPts val="800"/>
              </a:spcBef>
            </a:pPr>
            <a:r>
              <a:rPr lang="en-US" sz="1800" b="1" dirty="0">
                <a:effectLst/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Module 1: 	</a:t>
            </a:r>
            <a:r>
              <a:rPr lang="en-US" sz="1800" b="1" dirty="0" err="1">
                <a:effectLst/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Signn</a:t>
            </a:r>
            <a:r>
              <a:rPr lang="en-US" sz="1800" b="1" dirty="0">
                <a:effectLst/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in page</a:t>
            </a:r>
            <a:endParaRPr lang="en-IN" sz="18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914400" algn="just">
              <a:lnSpc>
                <a:spcPct val="107000"/>
              </a:lnSpc>
            </a:pPr>
            <a:r>
              <a:rPr lang="en-IN" sz="1800" dirty="0">
                <a:effectLst/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   Checked all the functionalities on Sign in page which included personal info </a:t>
            </a:r>
            <a:r>
              <a:rPr lang="en-US" sz="1800" dirty="0">
                <a:effectLst/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as email </a:t>
            </a:r>
            <a:endParaRPr lang="en-IN" sz="18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914400" algn="just">
              <a:lnSpc>
                <a:spcPct val="107000"/>
              </a:lnSpc>
            </a:pPr>
            <a:r>
              <a:rPr lang="en-US" sz="1800" dirty="0">
                <a:effectLst/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address, password </a:t>
            </a:r>
            <a:endParaRPr lang="en-IN" sz="18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914400" algn="just">
              <a:lnSpc>
                <a:spcPct val="107000"/>
              </a:lnSpc>
            </a:pPr>
            <a:r>
              <a:rPr lang="en-IN" sz="1800" dirty="0">
                <a:effectLst/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 </a:t>
            </a:r>
            <a:endParaRPr lang="en-IN" sz="18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914400" algn="just">
              <a:lnSpc>
                <a:spcPct val="107000"/>
              </a:lnSpc>
            </a:pPr>
            <a:r>
              <a:rPr lang="en-US" sz="1800" b="1" dirty="0">
                <a:effectLst/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Module 2: 	Women page</a:t>
            </a:r>
            <a:endParaRPr lang="en-IN" sz="18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914400" algn="just">
              <a:lnSpc>
                <a:spcPct val="107000"/>
              </a:lnSpc>
            </a:pPr>
            <a:r>
              <a:rPr lang="en-IN" sz="1800" dirty="0">
                <a:effectLst/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Checked all the functionalities on Women page which included </a:t>
            </a:r>
            <a:r>
              <a:rPr lang="en-US" sz="1800" dirty="0">
                <a:effectLst/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item details, Quantity, </a:t>
            </a:r>
            <a:r>
              <a:rPr lang="en-US" sz="1800" dirty="0" err="1">
                <a:effectLst/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Filters,compare</a:t>
            </a:r>
            <a:r>
              <a:rPr lang="en-US" sz="1800" dirty="0">
                <a:effectLst/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button,Add</a:t>
            </a:r>
            <a:r>
              <a:rPr lang="en-US" sz="1800" dirty="0">
                <a:effectLst/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to cart </a:t>
            </a:r>
            <a:r>
              <a:rPr lang="en-US" sz="1800" dirty="0" err="1">
                <a:effectLst/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button,product</a:t>
            </a:r>
            <a:r>
              <a:rPr lang="en-US" sz="1800" dirty="0">
                <a:effectLst/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info,grid,list</a:t>
            </a:r>
            <a:r>
              <a:rPr lang="en-US" sz="1800" dirty="0">
                <a:effectLst/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button</a:t>
            </a:r>
            <a:endParaRPr lang="en-IN" sz="18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914400" algn="just">
              <a:lnSpc>
                <a:spcPct val="107000"/>
              </a:lnSpc>
            </a:pPr>
            <a:r>
              <a:rPr lang="en-IN" sz="1800" dirty="0">
                <a:effectLst/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</a:t>
            </a:r>
            <a:endParaRPr lang="en-IN" sz="18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914400" algn="just">
              <a:lnSpc>
                <a:spcPct val="107000"/>
              </a:lnSpc>
            </a:pPr>
            <a:r>
              <a:rPr lang="en-IN" sz="1800" b="1" dirty="0">
                <a:effectLst/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Module 3:	</a:t>
            </a:r>
            <a:r>
              <a:rPr lang="en-IN" sz="1800" b="1" dirty="0" err="1">
                <a:effectLst/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Tshirt</a:t>
            </a:r>
            <a:r>
              <a:rPr lang="en-IN" sz="1800" b="1" dirty="0">
                <a:effectLst/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page</a:t>
            </a:r>
            <a:endParaRPr lang="en-IN" sz="18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914400" algn="just">
              <a:lnSpc>
                <a:spcPct val="107000"/>
              </a:lnSpc>
            </a:pPr>
            <a:r>
              <a:rPr lang="en-IN" sz="1800" dirty="0">
                <a:effectLst/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Checked all the functionalities on T-Shirt page which included </a:t>
            </a:r>
            <a:r>
              <a:rPr lang="en-US" sz="1800" dirty="0">
                <a:effectLst/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item details, Quantity, </a:t>
            </a:r>
            <a:r>
              <a:rPr lang="en-US" sz="1800" dirty="0" err="1">
                <a:effectLst/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Filters,compare</a:t>
            </a:r>
            <a:r>
              <a:rPr lang="en-US" sz="1800" dirty="0">
                <a:effectLst/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button,Add</a:t>
            </a:r>
            <a:r>
              <a:rPr lang="en-US" sz="1800" dirty="0">
                <a:effectLst/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to cart </a:t>
            </a:r>
            <a:r>
              <a:rPr lang="en-US" sz="1800" dirty="0" err="1">
                <a:effectLst/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button,product</a:t>
            </a:r>
            <a:r>
              <a:rPr lang="en-US" sz="1800" dirty="0">
                <a:effectLst/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info,grid,list</a:t>
            </a:r>
            <a:r>
              <a:rPr lang="en-US" sz="1800" dirty="0">
                <a:effectLst/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button</a:t>
            </a:r>
            <a:endParaRPr lang="en-IN" sz="18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914400" algn="just">
              <a:lnSpc>
                <a:spcPct val="107000"/>
              </a:lnSpc>
            </a:pPr>
            <a:r>
              <a:rPr lang="en-IN" sz="1800" dirty="0">
                <a:effectLst/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</a:t>
            </a:r>
            <a:endParaRPr lang="en-IN" sz="18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algn="just">
              <a:lnSpc>
                <a:spcPct val="107000"/>
              </a:lnSpc>
              <a:spcBef>
                <a:spcPts val="800"/>
              </a:spcBef>
            </a:pPr>
            <a:r>
              <a:rPr lang="en-US" sz="1800" b="1" dirty="0">
                <a:effectLst/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                   Module 4:	All Buttons and Drop Down  Arrow :</a:t>
            </a:r>
            <a:endParaRPr lang="en-IN" sz="18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r>
              <a:rPr lang="en-US" sz="1800" dirty="0">
                <a:effectLst/>
                <a:latin typeface="Calibri" panose="020F0502020204030204" pitchFamily="34" charset="0"/>
                <a:ea typeface="Corbel" panose="020B0503020204020204" pitchFamily="34" charset="0"/>
              </a:rPr>
              <a:t>team checked if  all the buttons and drop down arrows of different fields are functioning  properly or not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EDFDC5-DCA9-4D62-826F-74397662D212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38523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Bef>
                <a:spcPts val="800"/>
              </a:spcBef>
            </a:pPr>
            <a:endParaRPr lang="en-IN" sz="18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EDFDC5-DCA9-4D62-826F-74397662D212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2604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078A6-5AA2-49B6-8A00-D839C8DDCBA2}" type="datetimeFigureOut">
              <a:rPr lang="en-IN" smtClean="0"/>
              <a:t>08-09-2025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5176E-4508-4354-BC09-C12C7533C4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5126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078A6-5AA2-49B6-8A00-D839C8DDCBA2}" type="datetimeFigureOut">
              <a:rPr lang="en-IN" smtClean="0"/>
              <a:t>08-09-2025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5176E-4508-4354-BC09-C12C7533C4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9854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078A6-5AA2-49B6-8A00-D839C8DDCBA2}" type="datetimeFigureOut">
              <a:rPr lang="en-IN" smtClean="0"/>
              <a:t>08-09-2025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5176E-4508-4354-BC09-C12C7533C4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2337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078A6-5AA2-49B6-8A00-D839C8DDCBA2}" type="datetimeFigureOut">
              <a:rPr lang="en-IN" smtClean="0"/>
              <a:t>08-09-2025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5176E-4508-4354-BC09-C12C7533C4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5064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078A6-5AA2-49B6-8A00-D839C8DDCBA2}" type="datetimeFigureOut">
              <a:rPr lang="en-IN" smtClean="0"/>
              <a:t>08-09-2025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5176E-4508-4354-BC09-C12C7533C4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2642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078A6-5AA2-49B6-8A00-D839C8DDCBA2}" type="datetimeFigureOut">
              <a:rPr lang="en-IN" smtClean="0"/>
              <a:t>08-09-2025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5176E-4508-4354-BC09-C12C7533C4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5315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078A6-5AA2-49B6-8A00-D839C8DDCBA2}" type="datetimeFigureOut">
              <a:rPr lang="en-IN" smtClean="0"/>
              <a:t>08-09-2025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5176E-4508-4354-BC09-C12C7533C4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0941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078A6-5AA2-49B6-8A00-D839C8DDCBA2}" type="datetimeFigureOut">
              <a:rPr lang="en-IN" smtClean="0"/>
              <a:t>08-09-2025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5176E-4508-4354-BC09-C12C7533C4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2589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078A6-5AA2-49B6-8A00-D839C8DDCBA2}" type="datetimeFigureOut">
              <a:rPr lang="en-IN" smtClean="0"/>
              <a:t>08-09-2025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5176E-4508-4354-BC09-C12C7533C4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33617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078A6-5AA2-49B6-8A00-D839C8DDCBA2}" type="datetimeFigureOut">
              <a:rPr lang="en-IN" smtClean="0"/>
              <a:t>08-09-2025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5176E-4508-4354-BC09-C12C7533C4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8170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078A6-5AA2-49B6-8A00-D839C8DDCBA2}" type="datetimeFigureOut">
              <a:rPr lang="en-IN" smtClean="0"/>
              <a:t>08-09-2025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5176E-4508-4354-BC09-C12C7533C4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12613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078A6-5AA2-49B6-8A00-D839C8DDCBA2}" type="datetimeFigureOut">
              <a:rPr lang="en-IN" smtClean="0"/>
              <a:t>08-09-2025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5176E-4508-4354-BC09-C12C7533C439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209790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078A6-5AA2-49B6-8A00-D839C8DDCBA2}" type="datetimeFigureOut">
              <a:rPr lang="en-IN" smtClean="0"/>
              <a:t>08-09-2025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5176E-4508-4354-BC09-C12C7533C4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01979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078A6-5AA2-49B6-8A00-D839C8DDCBA2}" type="datetimeFigureOut">
              <a:rPr lang="en-IN" smtClean="0"/>
              <a:t>08-09-2025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5176E-4508-4354-BC09-C12C7533C4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17938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078A6-5AA2-49B6-8A00-D839C8DDCBA2}" type="datetimeFigureOut">
              <a:rPr lang="en-IN" smtClean="0"/>
              <a:t>08-09-2025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5176E-4508-4354-BC09-C12C7533C4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99414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078A6-5AA2-49B6-8A00-D839C8DDCBA2}" type="datetimeFigureOut">
              <a:rPr lang="en-IN" smtClean="0"/>
              <a:t>08-09-2025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5176E-4508-4354-BC09-C12C7533C4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90089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078A6-5AA2-49B6-8A00-D839C8DDCBA2}" type="datetimeFigureOut">
              <a:rPr lang="en-IN" smtClean="0"/>
              <a:t>08-09-2025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5176E-4508-4354-BC09-C12C7533C4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0959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8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A90078A6-5AA2-49B6-8A00-D839C8DDCBA2}" type="datetimeFigureOut">
              <a:rPr lang="en-IN" smtClean="0"/>
              <a:t>08-09-2025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E855176E-4508-4354-BC09-C12C7533C4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3334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7" Type="http://schemas.openxmlformats.org/officeDocument/2006/relationships/customXml" Target="../ink/ink3.xm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4.png"/><Relationship Id="rId5" Type="http://schemas.openxmlformats.org/officeDocument/2006/relationships/customXml" Target="../ink/ink2.xml"/><Relationship Id="rId10" Type="http://schemas.openxmlformats.org/officeDocument/2006/relationships/image" Target="../media/image8.png"/><Relationship Id="rId4" Type="http://schemas.openxmlformats.org/officeDocument/2006/relationships/image" Target="../media/image5.png"/><Relationship Id="rId9" Type="http://schemas.openxmlformats.org/officeDocument/2006/relationships/customXml" Target="../ink/ink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7" Type="http://schemas.openxmlformats.org/officeDocument/2006/relationships/customXml" Target="../ink/ink7.xml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9.png"/><Relationship Id="rId5" Type="http://schemas.openxmlformats.org/officeDocument/2006/relationships/customXml" Target="../ink/ink6.xml"/><Relationship Id="rId10" Type="http://schemas.openxmlformats.org/officeDocument/2006/relationships/image" Target="../media/image13.png"/><Relationship Id="rId4" Type="http://schemas.openxmlformats.org/officeDocument/2006/relationships/image" Target="../media/image10.png"/><Relationship Id="rId9" Type="http://schemas.openxmlformats.org/officeDocument/2006/relationships/customXml" Target="../ink/ink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6C6C5-960E-B04C-1EC6-7370BB7BF5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2794" y="1505933"/>
            <a:ext cx="9881664" cy="1736101"/>
          </a:xfrm>
        </p:spPr>
        <p:txBody>
          <a:bodyPr>
            <a:normAutofit/>
          </a:bodyPr>
          <a:lstStyle/>
          <a:p>
            <a:r>
              <a:rPr lang="en-US" sz="4400" b="1" kern="1400" dirty="0">
                <a:solidFill>
                  <a:srgbClr val="2F2F2F"/>
                </a:solidFill>
                <a:effectLst/>
                <a:latin typeface="Cooper Black" panose="0208090404030B020404" pitchFamily="18" charset="0"/>
                <a:ea typeface="MS Gothic" panose="020B0609070205080204" pitchFamily="49" charset="-128"/>
                <a:cs typeface="Tahoma" panose="020B0604030504040204" pitchFamily="34" charset="0"/>
              </a:rPr>
              <a:t>nopCommerce demo store</a:t>
            </a:r>
            <a:br>
              <a:rPr lang="en-IN" sz="1800" b="1" kern="1400" dirty="0">
                <a:solidFill>
                  <a:srgbClr val="2F2F2F"/>
                </a:solidFill>
                <a:effectLst/>
                <a:latin typeface="Corbel" panose="020B0503020204020204" pitchFamily="34" charset="0"/>
                <a:ea typeface="MS Gothic" panose="020B0609070205080204" pitchFamily="49" charset="-128"/>
                <a:cs typeface="Tahoma" panose="020B0604030504040204" pitchFamily="34" charset="0"/>
              </a:rPr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CDA47C-8B19-C12B-9663-CB179A4B73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6426" y="3242034"/>
            <a:ext cx="8689976" cy="1371599"/>
          </a:xfrm>
        </p:spPr>
        <p:txBody>
          <a:bodyPr/>
          <a:lstStyle/>
          <a:p>
            <a:r>
              <a:rPr lang="en-US" sz="1800" u="sng" kern="1400" dirty="0">
                <a:solidFill>
                  <a:srgbClr val="2F2F2F"/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 Guidance of  Mrs. Vaishali Sonanis Mam.</a:t>
            </a:r>
            <a:r>
              <a:rPr lang="en-US" sz="1800" u="sng" kern="1400" dirty="0">
                <a:solidFill>
                  <a:srgbClr val="2F2F2F"/>
                </a:solidFill>
                <a:effectLst/>
                <a:highlight>
                  <a:srgbClr val="FF00FF"/>
                </a:highlight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IN" sz="1800" u="sng" kern="1400" dirty="0">
              <a:solidFill>
                <a:srgbClr val="2F2F2F"/>
              </a:solidFill>
              <a:effectLst/>
              <a:highlight>
                <a:srgbClr val="FF00FF"/>
              </a:highlight>
              <a:latin typeface="Arial Black" panose="020B0A04020102020204" pitchFamily="34" charset="0"/>
              <a:ea typeface="MS Gothic" panose="020B0609070205080204" pitchFamily="49" charset="-128"/>
              <a:cs typeface="Tahoma" panose="020B060403050404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1902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99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8721B-307A-F198-2638-54B01F3E3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043" y="891895"/>
            <a:ext cx="10364451" cy="1596177"/>
          </a:xfrm>
        </p:spPr>
        <p:txBody>
          <a:bodyPr>
            <a:normAutofit/>
          </a:bodyPr>
          <a:lstStyle/>
          <a:p>
            <a:pPr algn="l"/>
            <a:r>
              <a:rPr lang="en-US" sz="4400" b="1" dirty="0">
                <a:effectLst/>
                <a:latin typeface="Arial Rounded MT Bold" panose="020F07040305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Introduction </a:t>
            </a:r>
            <a:r>
              <a:rPr lang="en-US" sz="4400" b="1" dirty="0">
                <a:solidFill>
                  <a:srgbClr val="FFFFFF"/>
                </a:solidFill>
                <a:effectLst/>
                <a:latin typeface="Arial Rounded MT Bold" panose="020F07040305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: </a:t>
            </a:r>
            <a:br>
              <a:rPr lang="en-IN" sz="4400" dirty="0">
                <a:effectLst/>
                <a:latin typeface="Cooper Black" panose="0208090404030B020404" pitchFamily="18" charset="0"/>
                <a:ea typeface="Corbel" panose="020B0503020204020204" pitchFamily="34" charset="0"/>
                <a:cs typeface="Tahoma" panose="020B0604030504040204" pitchFamily="34" charset="0"/>
              </a:rPr>
            </a:br>
            <a:endParaRPr lang="en-IN" sz="4400" dirty="0">
              <a:latin typeface="Cooper Black" panose="0208090404030B0204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D3FC1-885F-20F1-D9FF-FE33D189C5F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The nopCommerce demo store is a fully functional demonstration website showcasing the features and capabilities of nopCommerce. This demo site allows visitors to experience both the customer-facing storefront and the backend administration system, providing a realistic environment for evaluating how nopCommerce can be used to create and manage online stores of any size.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The nopCommerce demo store is ideal for anyone wishing to study or test e-commerce features before setting up a live online shop using nopCommerce.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6975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3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C85C7-8070-13C8-42B0-89D73FAF3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066801"/>
            <a:ext cx="10364451" cy="1695253"/>
          </a:xfrm>
        </p:spPr>
        <p:txBody>
          <a:bodyPr/>
          <a:lstStyle/>
          <a:p>
            <a:pPr algn="l"/>
            <a:r>
              <a:rPr lang="en-US" sz="4400" dirty="0">
                <a:effectLst/>
                <a:latin typeface="Arial Rounded MT Bold" panose="020F07040305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Members of Team</a:t>
            </a:r>
            <a:br>
              <a:rPr lang="en-IN" sz="1800" dirty="0">
                <a:effectLst/>
                <a:latin typeface="Corbel" panose="020B0503020204020204" pitchFamily="34" charset="0"/>
                <a:ea typeface="Corbel" panose="020B0503020204020204" pitchFamily="34" charset="0"/>
                <a:cs typeface="Tahoma" panose="020B0604030504040204" pitchFamily="34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40836-C6EE-9E90-9BA3-9CF559A0729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2356702"/>
            <a:ext cx="10363826" cy="3434498"/>
          </a:xfrm>
        </p:spPr>
        <p:txBody>
          <a:bodyPr>
            <a:normAutofit/>
          </a:bodyPr>
          <a:lstStyle/>
          <a:p>
            <a:pPr marL="342900" lvl="0" indent="-342900" algn="just">
              <a:lnSpc>
                <a:spcPct val="107000"/>
              </a:lnSpc>
              <a:spcBef>
                <a:spcPts val="800"/>
              </a:spcBef>
              <a:buFont typeface="Symbol" panose="05050102010706020507" pitchFamily="18" charset="2"/>
              <a:buChar char=""/>
            </a:pPr>
            <a:r>
              <a:rPr lang="en-US" sz="2200" b="1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Mahender Reddy</a:t>
            </a:r>
            <a:endParaRPr lang="en-US" sz="2200" b="1" dirty="0">
              <a:effectLst/>
              <a:highlight>
                <a:srgbClr val="FFFF00"/>
              </a:highligh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algn="just">
              <a:lnSpc>
                <a:spcPct val="107000"/>
              </a:lnSpc>
              <a:spcBef>
                <a:spcPts val="800"/>
              </a:spcBef>
              <a:buFont typeface="Symbol" panose="05050102010706020507" pitchFamily="18" charset="2"/>
              <a:buChar char=""/>
            </a:pP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 algn="just">
              <a:lnSpc>
                <a:spcPct val="107000"/>
              </a:lnSpc>
              <a:buNone/>
            </a:pPr>
            <a:endParaRPr lang="en-IN" sz="11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88873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66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5FEDE-B728-F40B-5D5C-242993C71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600" dirty="0">
                <a:effectLst/>
                <a:latin typeface="Arial Rounded MT Bold" panose="020F07040305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Responsibilities</a:t>
            </a:r>
            <a:endParaRPr lang="en-IN" dirty="0"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C6D1EA-2277-4FD4-0B61-7F62313CA43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lvl="0" algn="just">
              <a:lnSpc>
                <a:spcPct val="107000"/>
              </a:lnSpc>
              <a:buFont typeface="Wingdings" panose="05000000000000000000" pitchFamily="2" charset="2"/>
              <a:buChar char="q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Assign the sub-module and tasks to the team member.</a:t>
            </a:r>
          </a:p>
          <a:p>
            <a:pPr lvl="0" algn="just">
              <a:lnSpc>
                <a:spcPct val="107000"/>
              </a:lnSpc>
              <a:buFont typeface="Wingdings" panose="05000000000000000000" pitchFamily="2" charset="2"/>
              <a:buChar char="q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Review the test cases </a:t>
            </a:r>
          </a:p>
          <a:p>
            <a:pPr lvl="0" algn="just">
              <a:lnSpc>
                <a:spcPct val="107000"/>
              </a:lnSpc>
              <a:buFont typeface="Wingdings" panose="05000000000000000000" pitchFamily="2" charset="2"/>
              <a:buChar char="q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Execute all the test cases.</a:t>
            </a:r>
          </a:p>
          <a:p>
            <a:pPr lvl="0" algn="just">
              <a:lnSpc>
                <a:spcPct val="107000"/>
              </a:lnSpc>
              <a:buFont typeface="Wingdings" panose="05000000000000000000" pitchFamily="2" charset="2"/>
              <a:buChar char="q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defect report.</a:t>
            </a:r>
          </a:p>
          <a:p>
            <a:pPr marL="0" lvl="0" indent="0" algn="just">
              <a:lnSpc>
                <a:spcPct val="107000"/>
              </a:lnSpc>
              <a:buNone/>
            </a:pP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5825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9E918-9235-EEAA-9DB2-91C190034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78729"/>
            <a:ext cx="10364451" cy="2516957"/>
          </a:xfrm>
        </p:spPr>
        <p:txBody>
          <a:bodyPr>
            <a:normAutofit/>
          </a:bodyPr>
          <a:lstStyle/>
          <a:p>
            <a:pPr algn="l"/>
            <a:r>
              <a:rPr lang="en-US" sz="4400" dirty="0">
                <a:effectLst/>
                <a:latin typeface="Arial Rounded MT Bold" panose="020F07040305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Overview</a:t>
            </a:r>
            <a:br>
              <a:rPr lang="en-IN" sz="4400" dirty="0">
                <a:effectLst/>
                <a:latin typeface="Arial Rounded MT Bold" panose="020F0704030504030204" pitchFamily="34" charset="0"/>
                <a:ea typeface="Corbel" panose="020B0503020204020204" pitchFamily="34" charset="0"/>
                <a:cs typeface="Tahoma" panose="020B0604030504040204" pitchFamily="34" charset="0"/>
              </a:rPr>
            </a:br>
            <a:endParaRPr lang="en-IN" sz="6000" dirty="0"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485FA1-F241-14CE-C2EC-D611F9E192D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2093715"/>
            <a:ext cx="10363826" cy="3424107"/>
          </a:xfrm>
        </p:spPr>
        <p:txBody>
          <a:bodyPr>
            <a:normAutofit/>
          </a:bodyPr>
          <a:lstStyle/>
          <a:p>
            <a:r>
              <a:rPr lang="en-US" sz="3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nopcomerce?</a:t>
            </a:r>
            <a:endParaRPr lang="en-IN" sz="3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dirty="0"/>
              <a:t>Trusted by thousands of companies worldwide, nopCommerce offers both a feature-rich customer storefront and a powerful backend administration system, ensuring stability, scalability, and seamless performance, while benefiting from a strong global developer community that continuously updates the platform for security and enterprise-level reliability.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302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000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2735D-0FAF-2004-A825-BB6804082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400" b="1" dirty="0">
                <a:effectLst/>
                <a:latin typeface="Arial Rounded MT Bold" panose="020F07040305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Modules</a:t>
            </a:r>
            <a:br>
              <a:rPr lang="en-IN" sz="1800" dirty="0">
                <a:effectLst/>
                <a:latin typeface="Corbel" panose="020B0503020204020204" pitchFamily="34" charset="0"/>
                <a:ea typeface="Corbel" panose="020B0503020204020204" pitchFamily="34" charset="0"/>
                <a:cs typeface="Tahoma" panose="020B0604030504040204" pitchFamily="34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46F3B8-8CC3-6761-F2CA-8219807BFA6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7329" y="2064470"/>
            <a:ext cx="10963372" cy="4515439"/>
          </a:xfrm>
        </p:spPr>
        <p:txBody>
          <a:bodyPr>
            <a:normAutofit fontScale="55000" lnSpcReduction="20000"/>
          </a:bodyPr>
          <a:lstStyle/>
          <a:p>
            <a:pPr marL="1028700" indent="-342900" algn="just">
              <a:lnSpc>
                <a:spcPct val="107000"/>
              </a:lnSpc>
              <a:spcBef>
                <a:spcPts val="800"/>
              </a:spcBef>
              <a:buFont typeface="Wingdings" panose="05000000000000000000" pitchFamily="2" charset="2"/>
              <a:buChar char="ü"/>
            </a:pPr>
            <a:r>
              <a:rPr lang="en-US" sz="2900" b="1" dirty="0">
                <a:effectLst/>
                <a:latin typeface="Arial Black" panose="020B0A040201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Module 1 : </a:t>
            </a:r>
            <a:r>
              <a:rPr lang="en-US" sz="2900" b="1" dirty="0">
                <a:latin typeface="Arial Black" panose="020B0A040201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login</a:t>
            </a:r>
            <a:r>
              <a:rPr lang="en-US" sz="2900" b="1" dirty="0">
                <a:effectLst/>
                <a:latin typeface="Arial Black" panose="020B0A040201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</a:t>
            </a:r>
            <a:r>
              <a:rPr lang="en-US" sz="2900" b="1" dirty="0">
                <a:latin typeface="Arial Black" panose="020B0A040201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 </a:t>
            </a:r>
          </a:p>
          <a:p>
            <a:pPr marL="0" indent="0">
              <a:buNone/>
            </a:pPr>
            <a:r>
              <a:rPr lang="en-IN" sz="2900" dirty="0"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Checked all the functionalities on login in page which included email field, password field and login button.</a:t>
            </a:r>
          </a:p>
          <a:p>
            <a:pPr marL="0" indent="0">
              <a:buNone/>
            </a:pPr>
            <a:r>
              <a:rPr lang="en-IN" sz="2900" dirty="0">
                <a:latin typeface="Calibri" panose="020F0502020204030204" pitchFamily="34" charset="0"/>
                <a:cs typeface="Tahoma" panose="020B0604030504040204" pitchFamily="34" charset="0"/>
              </a:rPr>
              <a:t>Also checked that only for valid credentials only user is able to login else give error message.</a:t>
            </a:r>
            <a:endParaRPr lang="en-IN" sz="2900" dirty="0"/>
          </a:p>
          <a:p>
            <a:pPr marL="685800" indent="0" algn="just">
              <a:lnSpc>
                <a:spcPct val="107000"/>
              </a:lnSpc>
              <a:spcBef>
                <a:spcPts val="800"/>
              </a:spcBef>
              <a:buNone/>
            </a:pPr>
            <a:endParaRPr lang="en-US" sz="2900" b="1" dirty="0">
              <a:effectLst/>
              <a:latin typeface="Arial Black" panose="020B0A04020102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1028700" indent="-342900" algn="just">
              <a:lnSpc>
                <a:spcPct val="107000"/>
              </a:lnSpc>
              <a:buFont typeface="Wingdings" panose="05000000000000000000" pitchFamily="2" charset="2"/>
              <a:buChar char="ü"/>
            </a:pPr>
            <a:r>
              <a:rPr lang="en-US" sz="2900" b="1" dirty="0">
                <a:effectLst/>
                <a:latin typeface="Arial Black" panose="020B0A040201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Module 2 :  search</a:t>
            </a:r>
            <a:endParaRPr lang="en-IN" sz="2900" dirty="0">
              <a:effectLst/>
              <a:latin typeface="Arial Black" panose="020B0A04020102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r>
              <a:rPr lang="en-IN" sz="2900" dirty="0"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Checked all the functionalities on Search box by entering combination of characters and combination of characters and numbers and verifying that the results are as expected.</a:t>
            </a:r>
          </a:p>
          <a:p>
            <a:pPr marL="0" indent="0">
              <a:buNone/>
            </a:pPr>
            <a:r>
              <a:rPr lang="en-IN" sz="2900" dirty="0">
                <a:latin typeface="Calibri" panose="020F0502020204030204" pitchFamily="34" charset="0"/>
                <a:cs typeface="Tahoma" panose="020B0604030504040204" pitchFamily="34" charset="0"/>
              </a:rPr>
              <a:t>Used Gherkin language to write code and give multiple inputs using examples.</a:t>
            </a:r>
          </a:p>
          <a:p>
            <a:pPr marL="685800" indent="0" algn="just">
              <a:lnSpc>
                <a:spcPct val="107000"/>
              </a:lnSpc>
              <a:buNone/>
            </a:pPr>
            <a:r>
              <a:rPr lang="en-US" sz="2900" dirty="0"/>
              <a:t>.</a:t>
            </a:r>
          </a:p>
          <a:p>
            <a:pPr marL="685800" indent="0" algn="just">
              <a:lnSpc>
                <a:spcPct val="107000"/>
              </a:lnSpc>
              <a:buNone/>
            </a:pPr>
            <a:r>
              <a:rPr lang="en-IN" sz="2900" dirty="0">
                <a:effectLst/>
                <a:latin typeface="Arial Black" panose="020B0A040201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Module 3 :  wishlist  </a:t>
            </a:r>
          </a:p>
          <a:p>
            <a:pPr marL="0" indent="0">
              <a:buNone/>
            </a:pPr>
            <a:r>
              <a:rPr lang="en-IN" sz="2900" dirty="0"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Checked functionality of wishlist which includes searching of item, add to wishlist button, update wishlist.</a:t>
            </a:r>
          </a:p>
          <a:p>
            <a:pPr marL="0" indent="0">
              <a:buNone/>
            </a:pPr>
            <a:r>
              <a:rPr lang="en-IN" sz="2900" dirty="0"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Also verified that product can be added to cart from the wishlist.</a:t>
            </a:r>
          </a:p>
          <a:p>
            <a:pPr marL="685800" indent="0" algn="just">
              <a:lnSpc>
                <a:spcPct val="107000"/>
              </a:lnSpc>
              <a:buNone/>
            </a:pPr>
            <a:endParaRPr lang="en-IN" sz="2300" dirty="0">
              <a:effectLst/>
              <a:latin typeface="Arial Black" panose="020B0A04020102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685800" indent="0" algn="just">
              <a:lnSpc>
                <a:spcPct val="107000"/>
              </a:lnSpc>
              <a:buNone/>
            </a:pPr>
            <a:endParaRPr lang="en-IN" sz="2300" dirty="0">
              <a:latin typeface="Arial Black" panose="020B0A04020102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685800" indent="0" algn="just">
              <a:lnSpc>
                <a:spcPct val="107000"/>
              </a:lnSpc>
              <a:buNone/>
            </a:pPr>
            <a:endParaRPr lang="en-IN" sz="2300" dirty="0">
              <a:effectLst/>
              <a:latin typeface="Arial Black" panose="020B0A04020102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6379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AA907EC-EE6A-275E-BA9E-14DFD59CF4D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76694" y="961534"/>
            <a:ext cx="10746556" cy="5231876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07000"/>
              </a:lnSpc>
              <a:spcBef>
                <a:spcPts val="800"/>
              </a:spcBef>
              <a:buFont typeface="Wingdings" panose="05000000000000000000" pitchFamily="2" charset="2"/>
              <a:buChar char="ü"/>
            </a:pPr>
            <a:r>
              <a:rPr lang="en-US" sz="1800" b="1" dirty="0">
                <a:effectLst/>
                <a:latin typeface="Arial Black" panose="020B0A040201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Module 4 :  </a:t>
            </a:r>
            <a:r>
              <a:rPr lang="en-US" sz="1800" b="1" dirty="0">
                <a:latin typeface="Arial Black" panose="020B0A040201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cart</a:t>
            </a:r>
            <a:endParaRPr lang="en-IN" sz="1800" b="1" dirty="0">
              <a:effectLst/>
              <a:latin typeface="Arial Black" panose="020B0A04020102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r>
              <a:rPr lang="en-IN" sz="1800" dirty="0"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Checked all the functionalities of add to cart button by searching the product and clicking on add to cart button.</a:t>
            </a:r>
          </a:p>
          <a:p>
            <a:pPr marL="0" indent="0">
              <a:buNone/>
            </a:pPr>
            <a:r>
              <a:rPr lang="en-IN" sz="1800" dirty="0"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Verifying that item is added to the cart  Verifying that item is removed from the cart.</a:t>
            </a:r>
          </a:p>
          <a:p>
            <a:pPr marL="0" indent="0">
              <a:buNone/>
            </a:pPr>
            <a:r>
              <a:rPr lang="en-IN" sz="1800" dirty="0"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It’s mandatory to have item in the cart to remove any item.</a:t>
            </a:r>
          </a:p>
          <a:p>
            <a:pPr marL="0" indent="0">
              <a:buNone/>
            </a:pPr>
            <a:r>
              <a:rPr lang="en-IN" sz="1800" dirty="0"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So there is dependency of addtocart() method for remove_cart() method to execute.</a:t>
            </a:r>
          </a:p>
          <a:p>
            <a:pPr marL="0" indent="0">
              <a:buNone/>
            </a:pPr>
            <a:r>
              <a:rPr lang="en-US" sz="1800" b="1" dirty="0">
                <a:effectLst/>
                <a:latin typeface="Arial Black" panose="020B0A040201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Module 5 :  </a:t>
            </a:r>
            <a:r>
              <a:rPr lang="en-US" sz="1800" b="1" dirty="0">
                <a:latin typeface="Arial Black" panose="020B0A040201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sort</a:t>
            </a:r>
          </a:p>
          <a:p>
            <a:pPr marL="0" indent="0">
              <a:buNone/>
            </a:pPr>
            <a:r>
              <a:rPr lang="en-US" sz="19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checked all the functionalities of sort in price, name and also checked for displaying the quantity of the products, and for the type like grid and list forms.</a:t>
            </a:r>
          </a:p>
          <a:p>
            <a:pPr marL="0" indent="0">
              <a:buNone/>
            </a:pPr>
            <a:r>
              <a:rPr lang="en-US" sz="1800" dirty="0"/>
              <a:t>Verifying that all select options are displaying the exact outcomes or not.</a:t>
            </a:r>
          </a:p>
          <a:p>
            <a:pPr marL="0" indent="0">
              <a:buNone/>
            </a:pPr>
            <a:r>
              <a:rPr lang="en-US" sz="1800" b="1" dirty="0">
                <a:effectLst/>
                <a:latin typeface="Arial Black" panose="020B0A040201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Module 6 : book</a:t>
            </a:r>
          </a:p>
          <a:p>
            <a:pPr marL="0" indent="0">
              <a:buNone/>
            </a:pPr>
            <a:r>
              <a:rPr lang="en-US" sz="1900" dirty="0">
                <a:effectLst/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tested th</a:t>
            </a:r>
            <a:r>
              <a:rPr lang="en-US" sz="1900" dirty="0"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e Booking functionality by giving the valid and invalid tokens and gift coupons, also tested for the  address verification and user credentials  conformation while booking the product to the mentioned address</a:t>
            </a:r>
            <a:r>
              <a:rPr lang="en-US" sz="1800" dirty="0"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8040114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99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53873-8E32-7D24-EE91-6F92C6FEE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sz="4400" dirty="0">
                <a:latin typeface="Arial Rounded MT Bold" panose="020F0704030504030204" pitchFamily="34" charset="0"/>
              </a:rPr>
              <a:t>Defects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29791-FEC9-CB33-DE78-C8110DF7E4C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971550" indent="-285750" algn="just">
              <a:lnSpc>
                <a:spcPct val="107000"/>
              </a:lnSpc>
              <a:spcBef>
                <a:spcPts val="800"/>
              </a:spcBef>
              <a:buFont typeface="Wingdings" panose="05000000000000000000" pitchFamily="2" charset="2"/>
              <a:buChar char="q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While running a testcase at certain point some fields are not working as it is expected which is nothing but a defect, so team have created a Defect report on those defects.</a:t>
            </a:r>
          </a:p>
          <a:p>
            <a:pPr marL="971550" indent="-285750" algn="just">
              <a:lnSpc>
                <a:spcPct val="107000"/>
              </a:lnSpc>
              <a:spcBef>
                <a:spcPts val="800"/>
              </a:spcBef>
              <a:buFont typeface="Wingdings" panose="05000000000000000000" pitchFamily="2" charset="2"/>
              <a:buChar char="q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Found 4 defects, but two are of login ang register which are not prior than which are displayed in post the page.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buNone/>
            </a:pP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dirty="0">
                <a:effectLst/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 </a:t>
            </a:r>
            <a:endParaRPr lang="en-IN" sz="18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2701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33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11210B-9FB6-B101-BDD9-DC7BB69C3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CCF0B9-7F36-3928-9041-09EA55FC058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970962"/>
            <a:ext cx="10363826" cy="4820238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Font typeface="Wingdings" panose="05000000000000000000" pitchFamily="2" charset="2"/>
              <a:buChar char="Ø"/>
            </a:pPr>
            <a:r>
              <a:rPr lang="en-US" sz="3200" b="1" dirty="0">
                <a:effectLst/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Defect identifier  :-  </a:t>
            </a:r>
            <a:r>
              <a:rPr lang="en-US" sz="3200" dirty="0">
                <a:effectLst/>
                <a:latin typeface="Arial Black" panose="020B0A040201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B_001</a:t>
            </a:r>
            <a:endParaRPr lang="en-IN" sz="3200" dirty="0">
              <a:effectLst/>
              <a:latin typeface="Arial Black" panose="020B0A04020102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endParaRPr lang="en-IN" sz="18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Font typeface="Wingdings" panose="05000000000000000000" pitchFamily="2" charset="2"/>
              <a:buChar char="Ø"/>
            </a:pPr>
            <a:r>
              <a:rPr lang="en-US" sz="19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Defect summary            :-   while booking the product, in address conformation is takin</a:t>
            </a:r>
            <a:r>
              <a:rPr lang="en-US" sz="1900" b="1" dirty="0"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g mobile no as any kind of digit.</a:t>
            </a:r>
            <a:endParaRPr lang="en-US" sz="1900" dirty="0">
              <a:effectLst/>
              <a:latin typeface="Arial" panose="020B0604020202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Font typeface="Wingdings" panose="05000000000000000000" pitchFamily="2" charset="2"/>
              <a:buChar char="Ø"/>
            </a:pPr>
            <a:r>
              <a:rPr lang="en-US" sz="1900" b="1" dirty="0">
                <a:effectLst/>
                <a:latin typeface="Wingdings" panose="05000000000000000000" pitchFamily="2" charset="2"/>
                <a:ea typeface="Corbel" panose="020B0503020204020204" pitchFamily="34" charset="0"/>
                <a:cs typeface="Wingdings" panose="05000000000000000000" pitchFamily="2" charset="2"/>
              </a:rPr>
              <a:t>Ø </a:t>
            </a:r>
            <a:r>
              <a:rPr lang="en-US" sz="19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Test Id                          </a:t>
            </a:r>
            <a:r>
              <a:rPr lang="en-US" sz="1900" b="1" dirty="0">
                <a:effectLst/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:-  </a:t>
            </a:r>
            <a:r>
              <a:rPr lang="en-IN" sz="19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TC_020</a:t>
            </a:r>
            <a:endParaRPr lang="en-IN" sz="19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buNone/>
            </a:pPr>
            <a:r>
              <a:rPr lang="en-US" sz="1900" dirty="0">
                <a:effectLst/>
                <a:latin typeface="Wingdings" panose="05000000000000000000" pitchFamily="2" charset="2"/>
                <a:ea typeface="Corbel" panose="020B0503020204020204" pitchFamily="34" charset="0"/>
                <a:cs typeface="Wingdings" panose="05000000000000000000" pitchFamily="2" charset="2"/>
              </a:rPr>
              <a:t>Ø </a:t>
            </a:r>
            <a:r>
              <a:rPr lang="en-US" sz="19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Test case name              </a:t>
            </a:r>
            <a:r>
              <a:rPr lang="en-US" sz="1900" b="1" dirty="0">
                <a:effectLst/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:- </a:t>
            </a:r>
            <a:r>
              <a:rPr lang="en-US" sz="1900" dirty="0">
                <a:effectLst/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</a:t>
            </a:r>
            <a:r>
              <a:rPr lang="en-IN" sz="19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TC_</a:t>
            </a:r>
            <a:r>
              <a:rPr lang="en-IN" sz="19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information_booking_addressconform</a:t>
            </a:r>
            <a:endParaRPr lang="en-IN" sz="19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r>
              <a:rPr lang="en-US" sz="1900" dirty="0">
                <a:effectLst/>
                <a:latin typeface="Wingdings" panose="05000000000000000000" pitchFamily="2" charset="2"/>
                <a:ea typeface="Corbel" panose="020B0503020204020204" pitchFamily="34" charset="0"/>
                <a:cs typeface="Wingdings" panose="05000000000000000000" pitchFamily="2" charset="2"/>
              </a:rPr>
              <a:t>Ø </a:t>
            </a:r>
            <a:r>
              <a:rPr lang="en-US" sz="19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Module name                   :-</a:t>
            </a:r>
            <a:r>
              <a:rPr lang="en-US" sz="1900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 </a:t>
            </a:r>
            <a:r>
              <a:rPr lang="en-US" sz="1900" dirty="0"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Book</a:t>
            </a:r>
            <a:endParaRPr lang="en-IN" sz="19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r>
              <a:rPr lang="en-US" sz="1900" dirty="0">
                <a:effectLst/>
                <a:latin typeface="Wingdings" panose="05000000000000000000" pitchFamily="2" charset="2"/>
                <a:ea typeface="Corbel" panose="020B0503020204020204" pitchFamily="34" charset="0"/>
                <a:cs typeface="Wingdings" panose="05000000000000000000" pitchFamily="2" charset="2"/>
              </a:rPr>
              <a:t>Ø </a:t>
            </a:r>
            <a:r>
              <a:rPr lang="en-US" sz="19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Reproducible </a:t>
            </a:r>
            <a:r>
              <a:rPr lang="en-US" sz="1900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                </a:t>
            </a:r>
            <a:r>
              <a:rPr lang="en-US" sz="19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:-</a:t>
            </a:r>
            <a:r>
              <a:rPr lang="en-US" sz="1900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 </a:t>
            </a:r>
            <a:endParaRPr lang="en-IN" sz="19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r>
              <a:rPr lang="en-US" sz="1900" dirty="0">
                <a:effectLst/>
                <a:latin typeface="Wingdings" panose="05000000000000000000" pitchFamily="2" charset="2"/>
                <a:ea typeface="Corbel" panose="020B0503020204020204" pitchFamily="34" charset="0"/>
                <a:cs typeface="Wingdings" panose="05000000000000000000" pitchFamily="2" charset="2"/>
              </a:rPr>
              <a:t>Ø </a:t>
            </a:r>
            <a:r>
              <a:rPr lang="en-US" sz="19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Severity       </a:t>
            </a:r>
            <a:r>
              <a:rPr lang="en-US" sz="1900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                     </a:t>
            </a:r>
            <a:r>
              <a:rPr lang="en-US" sz="19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:- </a:t>
            </a:r>
            <a:r>
              <a:rPr lang="en-US" sz="1900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high</a:t>
            </a:r>
            <a:endParaRPr lang="en-IN" sz="19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r>
              <a:rPr lang="en-US" sz="1900" dirty="0">
                <a:effectLst/>
                <a:latin typeface="Wingdings" panose="05000000000000000000" pitchFamily="2" charset="2"/>
                <a:ea typeface="Corbel" panose="020B0503020204020204" pitchFamily="34" charset="0"/>
                <a:cs typeface="Wingdings" panose="05000000000000000000" pitchFamily="2" charset="2"/>
              </a:rPr>
              <a:t>Ø </a:t>
            </a:r>
            <a:r>
              <a:rPr lang="en-US" sz="19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Priority  </a:t>
            </a:r>
            <a:r>
              <a:rPr lang="en-US" sz="1900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                         </a:t>
            </a:r>
            <a:r>
              <a:rPr lang="en-US" sz="19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:- high</a:t>
            </a:r>
            <a:endParaRPr lang="en-IN" sz="19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r>
              <a:rPr lang="en-US" sz="1900" dirty="0">
                <a:effectLst/>
                <a:latin typeface="Wingdings" panose="05000000000000000000" pitchFamily="2" charset="2"/>
                <a:ea typeface="Corbel" panose="020B0503020204020204" pitchFamily="34" charset="0"/>
                <a:cs typeface="Wingdings" panose="05000000000000000000" pitchFamily="2" charset="2"/>
              </a:rPr>
              <a:t>Ø </a:t>
            </a:r>
            <a:r>
              <a:rPr lang="en-US" sz="19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Raised by                           :-</a:t>
            </a:r>
            <a:r>
              <a:rPr lang="en-US" sz="1900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 </a:t>
            </a:r>
            <a:r>
              <a:rPr lang="en-US" sz="1900" dirty="0"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mahender reddy</a:t>
            </a:r>
            <a:endParaRPr lang="en-IN" sz="19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r>
              <a:rPr lang="en-US" sz="1900" dirty="0">
                <a:effectLst/>
                <a:latin typeface="Wingdings" panose="05000000000000000000" pitchFamily="2" charset="2"/>
                <a:ea typeface="Corbel" panose="020B0503020204020204" pitchFamily="34" charset="0"/>
                <a:cs typeface="Wingdings" panose="05000000000000000000" pitchFamily="2" charset="2"/>
              </a:rPr>
              <a:t>Ø </a:t>
            </a:r>
            <a:r>
              <a:rPr lang="en-US" sz="19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Assigned to                      :-</a:t>
            </a:r>
            <a:r>
              <a:rPr lang="en-US" sz="1900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 developer Team lead</a:t>
            </a:r>
            <a:endParaRPr lang="en-IN" sz="19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r>
              <a:rPr lang="en-US" sz="1900" dirty="0">
                <a:effectLst/>
                <a:latin typeface="Wingdings" panose="05000000000000000000" pitchFamily="2" charset="2"/>
                <a:ea typeface="Corbel" panose="020B0503020204020204" pitchFamily="34" charset="0"/>
                <a:cs typeface="Wingdings" panose="05000000000000000000" pitchFamily="2" charset="2"/>
              </a:rPr>
              <a:t>Ø </a:t>
            </a:r>
            <a:r>
              <a:rPr lang="en-US" sz="19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Date of assignment      :-</a:t>
            </a:r>
            <a:endParaRPr lang="en-IN" sz="1900" b="1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r>
              <a:rPr lang="en-US" sz="1900" dirty="0">
                <a:effectLst/>
                <a:latin typeface="Wingdings" panose="05000000000000000000" pitchFamily="2" charset="2"/>
                <a:ea typeface="Corbel" panose="020B0503020204020204" pitchFamily="34" charset="0"/>
                <a:cs typeface="Wingdings" panose="05000000000000000000" pitchFamily="2" charset="2"/>
              </a:rPr>
              <a:t>Ø </a:t>
            </a:r>
            <a:r>
              <a:rPr lang="en-US" sz="19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Status                                 :-</a:t>
            </a:r>
            <a:r>
              <a:rPr lang="en-US" sz="1900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pending</a:t>
            </a:r>
            <a:endParaRPr lang="en-IN" sz="19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r>
              <a:rPr lang="en-US" sz="1900" dirty="0">
                <a:effectLst/>
                <a:latin typeface="Wingdings" panose="05000000000000000000" pitchFamily="2" charset="2"/>
                <a:ea typeface="Corbel" panose="020B0503020204020204" pitchFamily="34" charset="0"/>
                <a:cs typeface="Wingdings" panose="05000000000000000000" pitchFamily="2" charset="2"/>
              </a:rPr>
              <a:t>Ø </a:t>
            </a:r>
            <a:r>
              <a:rPr lang="en-US" sz="19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Snap shots                        :-</a:t>
            </a: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r>
              <a:rPr lang="en-US" sz="1900" dirty="0">
                <a:effectLst/>
                <a:latin typeface="Wingdings" panose="05000000000000000000" pitchFamily="2" charset="2"/>
                <a:ea typeface="Corbel" panose="020B0503020204020204" pitchFamily="34" charset="0"/>
                <a:cs typeface="Wingdings" panose="05000000000000000000" pitchFamily="2" charset="2"/>
              </a:rPr>
              <a:t>Ø </a:t>
            </a:r>
            <a:r>
              <a:rPr lang="en-US" sz="19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Fixed by                               :-</a:t>
            </a:r>
            <a:r>
              <a:rPr lang="en-US" sz="1900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developer</a:t>
            </a:r>
            <a:endParaRPr lang="en-IN" sz="19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r>
              <a:rPr lang="en-US" sz="1900" dirty="0">
                <a:effectLst/>
                <a:latin typeface="Wingdings" panose="05000000000000000000" pitchFamily="2" charset="2"/>
                <a:ea typeface="Corbel" panose="020B0503020204020204" pitchFamily="34" charset="0"/>
                <a:cs typeface="Wingdings" panose="05000000000000000000" pitchFamily="2" charset="2"/>
              </a:rPr>
              <a:t>Ø </a:t>
            </a:r>
            <a:r>
              <a:rPr lang="en-US" sz="19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Date of fixing                   :-</a:t>
            </a:r>
            <a:endParaRPr lang="en-IN" sz="1900" b="1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endParaRPr lang="en-IN" sz="19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36104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66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DC71EE6-AF54-B95B-AF52-C825B16E578A}"/>
                  </a:ext>
                </a:extLst>
              </p14:cNvPr>
              <p14:cNvContentPartPr/>
              <p14:nvPr/>
            </p14:nvContentPartPr>
            <p14:xfrm>
              <a:off x="9336912" y="3134212"/>
              <a:ext cx="1400400" cy="2851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DC71EE6-AF54-B95B-AF52-C825B16E578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330792" y="3128092"/>
                <a:ext cx="1412640" cy="29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01FF556-5F15-F759-A4C3-79F956FD4CA8}"/>
                  </a:ext>
                </a:extLst>
              </p14:cNvPr>
              <p14:cNvContentPartPr/>
              <p14:nvPr/>
            </p14:nvContentPartPr>
            <p14:xfrm>
              <a:off x="9407472" y="3412132"/>
              <a:ext cx="198720" cy="7264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01FF556-5F15-F759-A4C3-79F956FD4CA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401352" y="3406012"/>
                <a:ext cx="210960" cy="738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5E1B3F72-DE9F-DAD0-5F3A-3C4A2CD93707}"/>
              </a:ext>
            </a:extLst>
          </p:cNvPr>
          <p:cNvGrpSpPr/>
          <p:nvPr/>
        </p:nvGrpSpPr>
        <p:grpSpPr>
          <a:xfrm>
            <a:off x="9492792" y="3431212"/>
            <a:ext cx="179280" cy="159480"/>
            <a:chOff x="9492792" y="3431212"/>
            <a:chExt cx="179280" cy="15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6870B3C-1919-7D69-8754-56B51EEA9B09}"/>
                    </a:ext>
                  </a:extLst>
                </p14:cNvPr>
                <p14:cNvContentPartPr/>
                <p14:nvPr/>
              </p14:nvContentPartPr>
              <p14:xfrm>
                <a:off x="9492792" y="3434092"/>
                <a:ext cx="106200" cy="828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6870B3C-1919-7D69-8754-56B51EEA9B0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486672" y="3427972"/>
                  <a:ext cx="11844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08ECD93-5D82-3FCA-7FFC-98F0ABBA4DE4}"/>
                    </a:ext>
                  </a:extLst>
                </p14:cNvPr>
                <p14:cNvContentPartPr/>
                <p14:nvPr/>
              </p14:nvContentPartPr>
              <p14:xfrm>
                <a:off x="9605472" y="3431212"/>
                <a:ext cx="66600" cy="1594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08ECD93-5D82-3FCA-7FFC-98F0ABBA4DE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599352" y="3425092"/>
                  <a:ext cx="78840" cy="17172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34C52429-06FC-6543-7432-719AD525736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5015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B9307-614D-47FE-FF23-53140EB7604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970962"/>
            <a:ext cx="10363826" cy="4820238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Font typeface="Wingdings" panose="05000000000000000000" pitchFamily="2" charset="2"/>
              <a:buChar char="Ø"/>
            </a:pPr>
            <a:r>
              <a:rPr lang="en-US" sz="3200" b="1" dirty="0">
                <a:effectLst/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Defect identifier  :-  </a:t>
            </a:r>
            <a:r>
              <a:rPr lang="en-US" sz="3200" dirty="0">
                <a:effectLst/>
                <a:latin typeface="Arial Black" panose="020B0A040201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B_002</a:t>
            </a:r>
            <a:endParaRPr lang="en-IN" sz="3200" dirty="0">
              <a:effectLst/>
              <a:latin typeface="Arial Black" panose="020B0A04020102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endParaRPr lang="en-IN" sz="18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r>
              <a:rPr lang="en-US" sz="1800" b="1" dirty="0">
                <a:effectLst/>
                <a:latin typeface="Wingdings" panose="05000000000000000000" pitchFamily="2" charset="2"/>
                <a:ea typeface="Corbel" panose="020B0503020204020204" pitchFamily="34" charset="0"/>
                <a:cs typeface="Wingdings" panose="05000000000000000000" pitchFamily="2" charset="2"/>
              </a:rPr>
              <a:t>Ø </a:t>
            </a:r>
            <a:r>
              <a:rPr lang="en-US" sz="19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Defect summary            :-   </a:t>
            </a:r>
            <a:r>
              <a:rPr lang="en-US" sz="1900" b="1" dirty="0"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products are not displayed according their respective display quantity.</a:t>
            </a:r>
            <a:r>
              <a:rPr lang="en-US" sz="1900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</a:t>
            </a:r>
            <a:endParaRPr lang="en-IN" sz="19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buNone/>
            </a:pPr>
            <a:r>
              <a:rPr lang="en-US" sz="1900" b="1" dirty="0">
                <a:effectLst/>
                <a:latin typeface="Wingdings" panose="05000000000000000000" pitchFamily="2" charset="2"/>
                <a:ea typeface="Corbel" panose="020B0503020204020204" pitchFamily="34" charset="0"/>
                <a:cs typeface="Wingdings" panose="05000000000000000000" pitchFamily="2" charset="2"/>
              </a:rPr>
              <a:t>Ø </a:t>
            </a:r>
            <a:r>
              <a:rPr lang="en-US" sz="19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Test Id                                </a:t>
            </a:r>
            <a:r>
              <a:rPr lang="en-US" sz="1900" b="1" dirty="0">
                <a:effectLst/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:-  </a:t>
            </a:r>
            <a:r>
              <a:rPr lang="en-IN" sz="19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TC_007</a:t>
            </a:r>
            <a:endParaRPr lang="en-IN" sz="19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buNone/>
            </a:pPr>
            <a:r>
              <a:rPr lang="en-US" sz="1900" dirty="0">
                <a:effectLst/>
                <a:latin typeface="Wingdings" panose="05000000000000000000" pitchFamily="2" charset="2"/>
                <a:ea typeface="Corbel" panose="020B0503020204020204" pitchFamily="34" charset="0"/>
                <a:cs typeface="Wingdings" panose="05000000000000000000" pitchFamily="2" charset="2"/>
              </a:rPr>
              <a:t>Ø </a:t>
            </a:r>
            <a:r>
              <a:rPr lang="en-US" sz="19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Test case name              </a:t>
            </a:r>
            <a:r>
              <a:rPr lang="en-US" sz="1900" b="1" dirty="0">
                <a:effectLst/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:- </a:t>
            </a:r>
            <a:r>
              <a:rPr lang="en-US" sz="1900" dirty="0">
                <a:effectLst/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</a:t>
            </a:r>
            <a:r>
              <a:rPr lang="en-IN" sz="19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TC_</a:t>
            </a:r>
            <a:r>
              <a:rPr lang="en-IN" sz="19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assiginment _sortdisplay</a:t>
            </a:r>
            <a:r>
              <a:rPr lang="en-IN" sz="19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 </a:t>
            </a:r>
            <a:endParaRPr lang="en-IN" sz="19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r>
              <a:rPr lang="en-US" sz="1900" dirty="0">
                <a:effectLst/>
                <a:latin typeface="Wingdings" panose="05000000000000000000" pitchFamily="2" charset="2"/>
                <a:ea typeface="Corbel" panose="020B0503020204020204" pitchFamily="34" charset="0"/>
                <a:cs typeface="Wingdings" panose="05000000000000000000" pitchFamily="2" charset="2"/>
              </a:rPr>
              <a:t>Ø </a:t>
            </a:r>
            <a:r>
              <a:rPr lang="en-US" sz="19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Module name                   :-</a:t>
            </a:r>
            <a:r>
              <a:rPr lang="en-US" sz="1900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 </a:t>
            </a:r>
            <a:r>
              <a:rPr lang="en-US" sz="1900" dirty="0"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most of  modules</a:t>
            </a:r>
            <a:endParaRPr lang="en-IN" sz="19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r>
              <a:rPr lang="en-US" sz="1900" dirty="0">
                <a:effectLst/>
                <a:latin typeface="Wingdings" panose="05000000000000000000" pitchFamily="2" charset="2"/>
                <a:ea typeface="Corbel" panose="020B0503020204020204" pitchFamily="34" charset="0"/>
                <a:cs typeface="Wingdings" panose="05000000000000000000" pitchFamily="2" charset="2"/>
              </a:rPr>
              <a:t>Ø </a:t>
            </a:r>
            <a:r>
              <a:rPr lang="en-US" sz="19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Reproducible </a:t>
            </a:r>
            <a:r>
              <a:rPr lang="en-US" sz="1900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                </a:t>
            </a:r>
            <a:r>
              <a:rPr lang="en-US" sz="19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:-</a:t>
            </a:r>
            <a:r>
              <a:rPr lang="en-US" sz="1900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 </a:t>
            </a:r>
            <a:endParaRPr lang="en-IN" sz="19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r>
              <a:rPr lang="en-US" sz="1900" dirty="0">
                <a:effectLst/>
                <a:latin typeface="Wingdings" panose="05000000000000000000" pitchFamily="2" charset="2"/>
                <a:ea typeface="Corbel" panose="020B0503020204020204" pitchFamily="34" charset="0"/>
                <a:cs typeface="Wingdings" panose="05000000000000000000" pitchFamily="2" charset="2"/>
              </a:rPr>
              <a:t>Ø </a:t>
            </a:r>
            <a:r>
              <a:rPr lang="en-US" sz="19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Severity       </a:t>
            </a:r>
            <a:r>
              <a:rPr lang="en-US" sz="1900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                     </a:t>
            </a:r>
            <a:r>
              <a:rPr lang="en-US" sz="19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:- </a:t>
            </a:r>
            <a:r>
              <a:rPr lang="en-US" sz="1900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high</a:t>
            </a:r>
            <a:endParaRPr lang="en-IN" sz="19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r>
              <a:rPr lang="en-US" sz="1900" dirty="0">
                <a:effectLst/>
                <a:latin typeface="Wingdings" panose="05000000000000000000" pitchFamily="2" charset="2"/>
                <a:ea typeface="Corbel" panose="020B0503020204020204" pitchFamily="34" charset="0"/>
                <a:cs typeface="Wingdings" panose="05000000000000000000" pitchFamily="2" charset="2"/>
              </a:rPr>
              <a:t>Ø </a:t>
            </a:r>
            <a:r>
              <a:rPr lang="en-US" sz="19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Priority  </a:t>
            </a:r>
            <a:r>
              <a:rPr lang="en-US" sz="1900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                         </a:t>
            </a:r>
            <a:r>
              <a:rPr lang="en-US" sz="19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:- </a:t>
            </a:r>
            <a:r>
              <a:rPr lang="en-US" sz="1900" b="1" dirty="0"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medium</a:t>
            </a:r>
            <a:endParaRPr lang="en-IN" sz="19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r>
              <a:rPr lang="en-US" sz="1900" dirty="0">
                <a:effectLst/>
                <a:latin typeface="Wingdings" panose="05000000000000000000" pitchFamily="2" charset="2"/>
                <a:ea typeface="Corbel" panose="020B0503020204020204" pitchFamily="34" charset="0"/>
                <a:cs typeface="Wingdings" panose="05000000000000000000" pitchFamily="2" charset="2"/>
              </a:rPr>
              <a:t>Ø </a:t>
            </a:r>
            <a:r>
              <a:rPr lang="en-US" sz="19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Raised by                           :-</a:t>
            </a:r>
            <a:r>
              <a:rPr lang="en-US" sz="1900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 </a:t>
            </a:r>
            <a:r>
              <a:rPr lang="en-US" sz="1900" dirty="0"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mahender reddy</a:t>
            </a:r>
            <a:endParaRPr lang="en-IN" sz="19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r>
              <a:rPr lang="en-US" sz="1900" dirty="0">
                <a:effectLst/>
                <a:latin typeface="Wingdings" panose="05000000000000000000" pitchFamily="2" charset="2"/>
                <a:ea typeface="Corbel" panose="020B0503020204020204" pitchFamily="34" charset="0"/>
                <a:cs typeface="Wingdings" panose="05000000000000000000" pitchFamily="2" charset="2"/>
              </a:rPr>
              <a:t>Ø </a:t>
            </a:r>
            <a:r>
              <a:rPr lang="en-US" sz="19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Assigned to                      :-</a:t>
            </a:r>
            <a:r>
              <a:rPr lang="en-US" sz="1900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 developer Team lead</a:t>
            </a:r>
            <a:endParaRPr lang="en-IN" sz="19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r>
              <a:rPr lang="en-US" sz="1900" dirty="0">
                <a:effectLst/>
                <a:latin typeface="Wingdings" panose="05000000000000000000" pitchFamily="2" charset="2"/>
                <a:ea typeface="Corbel" panose="020B0503020204020204" pitchFamily="34" charset="0"/>
                <a:cs typeface="Wingdings" panose="05000000000000000000" pitchFamily="2" charset="2"/>
              </a:rPr>
              <a:t>Ø </a:t>
            </a:r>
            <a:r>
              <a:rPr lang="en-US" sz="19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Date of assignment      :-</a:t>
            </a:r>
            <a:endParaRPr lang="en-IN" sz="1900" b="1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r>
              <a:rPr lang="en-US" sz="1900" dirty="0">
                <a:effectLst/>
                <a:latin typeface="Wingdings" panose="05000000000000000000" pitchFamily="2" charset="2"/>
                <a:ea typeface="Corbel" panose="020B0503020204020204" pitchFamily="34" charset="0"/>
                <a:cs typeface="Wingdings" panose="05000000000000000000" pitchFamily="2" charset="2"/>
              </a:rPr>
              <a:t>Ø </a:t>
            </a:r>
            <a:r>
              <a:rPr lang="en-US" sz="19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Status                                 :-</a:t>
            </a:r>
            <a:r>
              <a:rPr lang="en-US" sz="1900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pending</a:t>
            </a:r>
            <a:endParaRPr lang="en-IN" sz="19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r>
              <a:rPr lang="en-US" sz="1900" dirty="0">
                <a:effectLst/>
                <a:latin typeface="Wingdings" panose="05000000000000000000" pitchFamily="2" charset="2"/>
                <a:ea typeface="Corbel" panose="020B0503020204020204" pitchFamily="34" charset="0"/>
                <a:cs typeface="Wingdings" panose="05000000000000000000" pitchFamily="2" charset="2"/>
              </a:rPr>
              <a:t>Ø </a:t>
            </a:r>
            <a:r>
              <a:rPr lang="en-US" sz="19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Snap shots                        :-</a:t>
            </a: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r>
              <a:rPr lang="en-US" sz="1900" dirty="0">
                <a:effectLst/>
                <a:latin typeface="Wingdings" panose="05000000000000000000" pitchFamily="2" charset="2"/>
                <a:ea typeface="Corbel" panose="020B0503020204020204" pitchFamily="34" charset="0"/>
                <a:cs typeface="Wingdings" panose="05000000000000000000" pitchFamily="2" charset="2"/>
              </a:rPr>
              <a:t>Ø </a:t>
            </a:r>
            <a:r>
              <a:rPr lang="en-US" sz="19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Fixed by                               :-</a:t>
            </a:r>
            <a:r>
              <a:rPr lang="en-US" sz="1900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developer</a:t>
            </a:r>
            <a:endParaRPr lang="en-IN" sz="19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r>
              <a:rPr lang="en-US" sz="1900" dirty="0">
                <a:effectLst/>
                <a:latin typeface="Wingdings" panose="05000000000000000000" pitchFamily="2" charset="2"/>
                <a:ea typeface="Corbel" panose="020B0503020204020204" pitchFamily="34" charset="0"/>
                <a:cs typeface="Wingdings" panose="05000000000000000000" pitchFamily="2" charset="2"/>
              </a:rPr>
              <a:t>Ø </a:t>
            </a:r>
            <a:r>
              <a:rPr lang="en-US" sz="19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Date of fixing                   :-</a:t>
            </a:r>
            <a:endParaRPr lang="en-IN" sz="1900" b="1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endParaRPr lang="en-IN" sz="19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47893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000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2CC63CB-AF17-4E60-DB72-429F6DB19731}"/>
                  </a:ext>
                </a:extLst>
              </p14:cNvPr>
              <p14:cNvContentPartPr/>
              <p14:nvPr/>
            </p14:nvContentPartPr>
            <p14:xfrm>
              <a:off x="9066469" y="1871444"/>
              <a:ext cx="1798200" cy="3985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2CC63CB-AF17-4E60-DB72-429F6DB1973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060349" y="1865324"/>
                <a:ext cx="1810440" cy="410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0C3C4ACD-F777-534F-D313-A9B97598B231}"/>
              </a:ext>
            </a:extLst>
          </p:cNvPr>
          <p:cNvGrpSpPr/>
          <p:nvPr/>
        </p:nvGrpSpPr>
        <p:grpSpPr>
          <a:xfrm>
            <a:off x="3331309" y="5361644"/>
            <a:ext cx="4044240" cy="509040"/>
            <a:chOff x="3331309" y="5361644"/>
            <a:chExt cx="4044240" cy="50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ED64E2C-9850-C02E-0CF5-DC5D5B00EE29}"/>
                    </a:ext>
                  </a:extLst>
                </p14:cNvPr>
                <p14:cNvContentPartPr/>
                <p14:nvPr/>
              </p14:nvContentPartPr>
              <p14:xfrm>
                <a:off x="3331309" y="5435084"/>
                <a:ext cx="1674000" cy="3758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ED64E2C-9850-C02E-0CF5-DC5D5B00EE2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326989" y="5430764"/>
                  <a:ext cx="168264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8841E9B-4E85-75F3-0D44-82545AAF88F6}"/>
                    </a:ext>
                  </a:extLst>
                </p14:cNvPr>
                <p14:cNvContentPartPr/>
                <p14:nvPr/>
              </p14:nvContentPartPr>
              <p14:xfrm>
                <a:off x="5319949" y="5361644"/>
                <a:ext cx="360" cy="3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8841E9B-4E85-75F3-0D44-82545AAF88F6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315629" y="5357324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63A1D84-FC42-B1B4-7D36-D16C386405CD}"/>
                    </a:ext>
                  </a:extLst>
                </p14:cNvPr>
                <p14:cNvContentPartPr/>
                <p14:nvPr/>
              </p14:nvContentPartPr>
              <p14:xfrm>
                <a:off x="5766709" y="5402684"/>
                <a:ext cx="1608840" cy="4680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63A1D84-FC42-B1B4-7D36-D16C386405C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762389" y="5398364"/>
                  <a:ext cx="1617480" cy="47664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925EE560-023C-6CC0-6EAD-E4E0E8A0C58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0504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4DF2B-129B-CA0A-F03D-9D0346AF8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043" y="920175"/>
            <a:ext cx="10364451" cy="1596177"/>
          </a:xfrm>
        </p:spPr>
        <p:txBody>
          <a:bodyPr/>
          <a:lstStyle/>
          <a:p>
            <a:pPr algn="l"/>
            <a:r>
              <a:rPr lang="en-US" sz="4400" b="1" dirty="0">
                <a:effectLst/>
                <a:latin typeface="Arial Rounded MT Bold" panose="020F07040305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Challenges</a:t>
            </a:r>
            <a:br>
              <a:rPr lang="en-IN" sz="1800" dirty="0">
                <a:effectLst/>
                <a:latin typeface="Corbel" panose="020B0503020204020204" pitchFamily="34" charset="0"/>
                <a:ea typeface="Corbel" panose="020B0503020204020204" pitchFamily="34" charset="0"/>
                <a:cs typeface="Tahoma" panose="020B0604030504040204" pitchFamily="34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CAB90-50F7-DEBA-288E-F4E06EBD915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sz="1800" dirty="0">
                <a:effectLst/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While testing big website which contains huge data we faced some challenges about:</a:t>
            </a:r>
            <a:endParaRPr lang="en-IN" sz="18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342900" lvl="0" indent="-342900">
              <a:lnSpc>
                <a:spcPct val="107000"/>
              </a:lnSpc>
              <a:spcBef>
                <a:spcPts val="800"/>
              </a:spcBef>
              <a:buFont typeface="+mj-lt"/>
              <a:buAutoNum type="arabicPeriod"/>
              <a:tabLst>
                <a:tab pos="45720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There is comes difference in writing a test case and while running it.</a:t>
            </a:r>
            <a:endParaRPr lang="en-IN" sz="18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342900" lvl="0" indent="-342900">
              <a:lnSpc>
                <a:spcPct val="107000"/>
              </a:lnSpc>
              <a:spcBef>
                <a:spcPts val="800"/>
              </a:spcBef>
              <a:buFont typeface="+mj-lt"/>
              <a:buAutoNum type="arabicPeriod"/>
              <a:tabLst>
                <a:tab pos="45720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</a:t>
            </a:r>
            <a:r>
              <a:rPr lang="en-US" dirty="0"/>
              <a:t>Interacting with elements before ready due to asynchronous loading.</a:t>
            </a:r>
          </a:p>
          <a:p>
            <a:pPr marL="342900" lvl="0" indent="-342900">
              <a:lnSpc>
                <a:spcPct val="107000"/>
              </a:lnSpc>
              <a:spcBef>
                <a:spcPts val="800"/>
              </a:spcBef>
              <a:buFont typeface="+mj-lt"/>
              <a:buAutoNum type="arabicPeriod"/>
              <a:tabLst>
                <a:tab pos="457200" algn="l"/>
              </a:tabLst>
            </a:pPr>
            <a:r>
              <a:rPr lang="en-US" dirty="0"/>
              <a:t>Unstable tests due to timing or locator failures.</a:t>
            </a:r>
          </a:p>
          <a:p>
            <a:pPr marL="342900" lvl="0" indent="-342900">
              <a:lnSpc>
                <a:spcPct val="107000"/>
              </a:lnSpc>
              <a:spcBef>
                <a:spcPts val="800"/>
              </a:spcBef>
              <a:buFont typeface="+mj-lt"/>
              <a:buAutoNum type="arabicPeriod"/>
              <a:tabLst>
                <a:tab pos="457200" algn="l"/>
              </a:tabLst>
            </a:pPr>
            <a:r>
              <a:rPr lang="en-IN" dirty="0"/>
              <a:t>No active support for mobile applications.</a:t>
            </a:r>
          </a:p>
          <a:p>
            <a:pPr marL="342900" lvl="0" indent="-342900">
              <a:lnSpc>
                <a:spcPct val="107000"/>
              </a:lnSpc>
              <a:spcBef>
                <a:spcPts val="800"/>
              </a:spcBef>
              <a:buFont typeface="+mj-lt"/>
              <a:buAutoNum type="arabicPeriod"/>
              <a:tabLst>
                <a:tab pos="457200" algn="l"/>
              </a:tabLst>
            </a:pPr>
            <a:r>
              <a:rPr lang="en-US" dirty="0"/>
              <a:t>No Notifications (email) delivery after registering.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62109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99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90A28-9511-8B57-705F-F338D81DC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6897" y="920175"/>
            <a:ext cx="10364451" cy="1596177"/>
          </a:xfrm>
        </p:spPr>
        <p:txBody>
          <a:bodyPr/>
          <a:lstStyle/>
          <a:p>
            <a:pPr algn="l"/>
            <a:r>
              <a:rPr lang="en-IN" sz="4400" b="1" dirty="0">
                <a:effectLst/>
                <a:latin typeface="Arial Rounded MT Bold" panose="020F07040305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Experience</a:t>
            </a:r>
            <a:br>
              <a:rPr lang="en-IN" sz="1800" dirty="0">
                <a:effectLst/>
                <a:latin typeface="Corbel" panose="020B0503020204020204" pitchFamily="34" charset="0"/>
                <a:ea typeface="Corbel" panose="020B0503020204020204" pitchFamily="34" charset="0"/>
                <a:cs typeface="Tahoma" panose="020B0604030504040204" pitchFamily="34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D8742-3DC2-2E37-52B3-6F9C77130DF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85000" lnSpcReduction="20000"/>
          </a:bodyPr>
          <a:lstStyle/>
          <a:p>
            <a:pPr lvl="0" algn="just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IN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Help to find out bugs.</a:t>
            </a:r>
          </a:p>
          <a:p>
            <a:pPr lvl="0" algn="just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IN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Helps us test products manually in module wise.</a:t>
            </a:r>
          </a:p>
          <a:p>
            <a:r>
              <a:rPr lang="en-IN" dirty="0"/>
              <a:t>Can get better understanding in sdlc methodologies like agile in which project is divided in iterators and sprints.</a:t>
            </a:r>
          </a:p>
          <a:p>
            <a:r>
              <a:rPr lang="en-IN" dirty="0"/>
              <a:t>By using jira tool we know when to update the project in time and what the bug is.</a:t>
            </a:r>
          </a:p>
          <a:p>
            <a:r>
              <a:rPr lang="en-IN" dirty="0"/>
              <a:t>Performed cucumber based data driven testing etc.</a:t>
            </a:r>
          </a:p>
          <a:p>
            <a:r>
              <a:rPr lang="en-IN" dirty="0"/>
              <a:t>Performed many inbuilt methods which makes testing ease and fast.</a:t>
            </a:r>
          </a:p>
          <a:p>
            <a:r>
              <a:rPr lang="en-IN" dirty="0"/>
              <a:t>Using pom eases the code reusability and encapsulate the code.</a:t>
            </a:r>
          </a:p>
          <a:p>
            <a:r>
              <a:rPr lang="en-IN" dirty="0"/>
              <a:t>By using maven build generated the reports like html, json and html. </a:t>
            </a:r>
          </a:p>
        </p:txBody>
      </p:sp>
    </p:spTree>
    <p:extLst>
      <p:ext uri="{BB962C8B-B14F-4D97-AF65-F5344CB8AC3E}">
        <p14:creationId xmlns:p14="http://schemas.microsoft.com/office/powerpoint/2010/main" val="15743625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3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65B3687-5369-D57A-786F-0768454FB7F4}"/>
              </a:ext>
            </a:extLst>
          </p:cNvPr>
          <p:cNvSpPr txBox="1"/>
          <p:nvPr/>
        </p:nvSpPr>
        <p:spPr>
          <a:xfrm>
            <a:off x="3048786" y="2751871"/>
            <a:ext cx="6094428" cy="819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Bef>
                <a:spcPts val="800"/>
              </a:spcBef>
            </a:pPr>
            <a:r>
              <a:rPr lang="en-US" sz="4800" dirty="0">
                <a:effectLst/>
                <a:latin typeface="Arial Rounded MT Bold" panose="020F07040305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Thank You</a:t>
            </a:r>
            <a:r>
              <a:rPr lang="en-IN" sz="4800" dirty="0">
                <a:effectLst/>
                <a:latin typeface="Arial Rounded MT Bold" panose="020F07040305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!!!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F6B4B4-429F-DB3E-0543-B7142DA08C1D}"/>
              </a:ext>
            </a:extLst>
          </p:cNvPr>
          <p:cNvSpPr txBox="1"/>
          <p:nvPr/>
        </p:nvSpPr>
        <p:spPr>
          <a:xfrm>
            <a:off x="2375555" y="3863879"/>
            <a:ext cx="6419653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algn="ctr">
              <a:lnSpc>
                <a:spcPct val="107000"/>
              </a:lnSpc>
              <a:spcBef>
                <a:spcPts val="800"/>
              </a:spcBef>
            </a:pP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Vaishali Mam For Guiding Us through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 the Project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3046579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8000"/>
                <a:shade val="100000"/>
                <a:hueMod val="136000"/>
                <a:satMod val="160000"/>
                <a:lumMod val="105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C71B277C-C29A-4BA0-A7BA-43502DF21AB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414</TotalTime>
  <Words>1027</Words>
  <Application>Microsoft Office PowerPoint</Application>
  <PresentationFormat>Widescreen</PresentationFormat>
  <Paragraphs>107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7" baseType="lpstr">
      <vt:lpstr>Arial</vt:lpstr>
      <vt:lpstr>Arial Black</vt:lpstr>
      <vt:lpstr>Arial Rounded MT Bold</vt:lpstr>
      <vt:lpstr>Calibri</vt:lpstr>
      <vt:lpstr>Cooper Black</vt:lpstr>
      <vt:lpstr>Corbel</vt:lpstr>
      <vt:lpstr>Courier New</vt:lpstr>
      <vt:lpstr>Symbol</vt:lpstr>
      <vt:lpstr>Times New Roman</vt:lpstr>
      <vt:lpstr>Tw Cen MT</vt:lpstr>
      <vt:lpstr>Wingdings</vt:lpstr>
      <vt:lpstr>Droplet</vt:lpstr>
      <vt:lpstr>nopCommerce demo store </vt:lpstr>
      <vt:lpstr>Introduction :  </vt:lpstr>
      <vt:lpstr>Members of Team </vt:lpstr>
      <vt:lpstr>Responsibilities</vt:lpstr>
      <vt:lpstr>Overview </vt:lpstr>
      <vt:lpstr>Modules </vt:lpstr>
      <vt:lpstr>PowerPoint Presentation</vt:lpstr>
      <vt:lpstr>Defects</vt:lpstr>
      <vt:lpstr>PowerPoint Presentation</vt:lpstr>
      <vt:lpstr>PowerPoint Presentation</vt:lpstr>
      <vt:lpstr>PowerPoint Presentation</vt:lpstr>
      <vt:lpstr>PowerPoint Presentation</vt:lpstr>
      <vt:lpstr>Challenges </vt:lpstr>
      <vt:lpstr>Experience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PRESTASHOP / MY SHOP MODULE</dc:title>
  <dc:creator>Mahender Reddy</dc:creator>
  <cp:lastModifiedBy>Mahender reddy</cp:lastModifiedBy>
  <cp:revision>46</cp:revision>
  <dcterms:created xsi:type="dcterms:W3CDTF">2024-02-15T17:31:50Z</dcterms:created>
  <dcterms:modified xsi:type="dcterms:W3CDTF">2025-09-08T06:46:33Z</dcterms:modified>
</cp:coreProperties>
</file>